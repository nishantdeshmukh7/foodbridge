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2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2"/>
  </p:normalViewPr>
  <p:slideViewPr>
    <p:cSldViewPr snapToGrid="0" snapToObjects="1">
      <p:cViewPr varScale="1">
        <p:scale>
          <a:sx n="113" d="100"/>
          <a:sy n="113" d="100"/>
        </p:scale>
        <p:origin x="54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6803136"/>
            <a:ext cx="1182593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2E7D32"/>
                </a:solidFill>
                <a:latin typeface="Calibri"/>
              </a:defRPr>
            </a:pPr>
            <a:r>
              <a:t>FoodBridge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24242"/>
                </a:solidFill>
                <a:latin typeface="Calibri"/>
              </a:defRPr>
            </a:pPr>
            <a:r>
              <a:t>Food Donation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108960"/>
            <a:ext cx="36576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RMMM (Risk Mitigation, Monitoring, and Management)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144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4242"/>
                </a:solidFill>
                <a:latin typeface="Calibri"/>
              </a:defRPr>
            </a:pPr>
            <a:r>
              <a:rPr dirty="0"/>
              <a:t>Team Members</a:t>
            </a:r>
            <a:endParaRPr lang="en-US" dirty="0"/>
          </a:p>
          <a:p>
            <a:pPr algn="l">
              <a:defRPr sz="1800" b="1">
                <a:solidFill>
                  <a:srgbClr val="424242"/>
                </a:solidFill>
                <a:latin typeface="Calibri"/>
              </a:defRPr>
            </a:pPr>
            <a:endParaRPr lang="en-IN" dirty="0"/>
          </a:p>
          <a:p>
            <a:pPr algn="l">
              <a:defRPr sz="1800" b="1">
                <a:solidFill>
                  <a:srgbClr val="424242"/>
                </a:solidFill>
                <a:latin typeface="Calibri"/>
              </a:defRPr>
            </a:pPr>
            <a:r>
              <a:rPr lang="en-IN" dirty="0"/>
              <a:t>1.Nishant Ninad Deshmukh – RA2311030010161</a:t>
            </a:r>
          </a:p>
          <a:p>
            <a:pPr algn="l">
              <a:defRPr sz="1800" b="1">
                <a:solidFill>
                  <a:srgbClr val="424242"/>
                </a:solidFill>
                <a:latin typeface="Calibri"/>
              </a:defRPr>
            </a:pPr>
            <a:r>
              <a:rPr lang="en-IN" dirty="0"/>
              <a:t>2.Parth Nath Chauhan – RA2311030010162</a:t>
            </a:r>
          </a:p>
          <a:p>
            <a:pPr algn="l">
              <a:defRPr sz="1800" b="1">
                <a:solidFill>
                  <a:srgbClr val="424242"/>
                </a:solidFill>
                <a:latin typeface="Calibri"/>
              </a:defRPr>
            </a:pPr>
            <a:r>
              <a:rPr lang="en-IN" dirty="0"/>
              <a:t>3.Aryan Yadav – RA2311030010167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7432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6926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1A1A2E"/>
                </a:solidFill>
                <a:latin typeface="Calibri"/>
              </a:defRPr>
            </a:pPr>
            <a:r>
              <a:rPr lang="en-IN" sz="2800" dirty="0"/>
              <a:t>Large quantities of edible food are wasted daily by restaurants, hostels, event organizers, and households, while a significant portion of the population suffers from hunger. 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1A1A2E"/>
                </a:solidFill>
                <a:latin typeface="Calibri"/>
              </a:defRPr>
            </a:pPr>
            <a:endParaRPr lang="en-IN" sz="2800" dirty="0"/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1A1A2E"/>
                </a:solidFill>
                <a:latin typeface="Calibri"/>
              </a:defRPr>
            </a:pPr>
            <a:r>
              <a:rPr lang="en-IN" sz="2800" dirty="0"/>
              <a:t>The absence of a centralized digital platform to efficiently identify surplus food, coordinate timely pickups, and distribute it to NGOs and needy communities leads to decreased food waste and missed opportunities for social impact.</a:t>
            </a:r>
            <a:endParaRPr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6429D-77F5-4F71-F5D6-A9793874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11985B-0C05-49C9-29F9-B3FB42E64416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E74E8A-8E2B-68D1-E1DE-18120FE5429C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7268E8-F58A-F5F2-827F-1AEF12170572}"/>
              </a:ext>
            </a:extLst>
          </p:cNvPr>
          <p:cNvSpPr/>
          <p:nvPr/>
        </p:nvSpPr>
        <p:spPr>
          <a:xfrm>
            <a:off x="731520" y="1234440"/>
            <a:ext cx="27432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C6C85-536A-4CB1-10C1-43479630B271}"/>
              </a:ext>
            </a:extLst>
          </p:cNvPr>
          <p:cNvSpPr txBox="1"/>
          <p:nvPr/>
        </p:nvSpPr>
        <p:spPr>
          <a:xfrm>
            <a:off x="73152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36E39-1078-CBA3-4C90-D2FEBF16D001}"/>
              </a:ext>
            </a:extLst>
          </p:cNvPr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Calibri"/>
              </a:defRPr>
            </a:pPr>
            <a:r>
              <a:t>Overview of the RMMM Plan Document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0E4FF-7A2E-F76C-B4E0-D401A5F41960}"/>
              </a:ext>
            </a:extLst>
          </p:cNvPr>
          <p:cNvSpPr txBox="1"/>
          <p:nvPr/>
        </p:nvSpPr>
        <p:spPr>
          <a:xfrm>
            <a:off x="1097280" y="21031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1.  What is RMMM?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2.  Risk Category &amp; Probability Reference Tables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3.  Impact Severity Scale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4.  Step 1 — Risk Table (Unsorted)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5.  Step 2 — Risk Table (Sorted by Probability)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6.  Step 3 — Risk Information Sheets (RIS) for each Risk</a:t>
            </a:r>
          </a:p>
          <a:p>
            <a:pPr>
              <a:spcAft>
                <a:spcPts val="6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7.  Suitable Maintenance Process Model &amp; Justification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C25D2-8590-EBB4-A12C-260CD365A6B2}"/>
              </a:ext>
            </a:extLst>
          </p:cNvPr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2/20</a:t>
            </a:r>
          </a:p>
        </p:txBody>
      </p:sp>
    </p:spTree>
    <p:extLst>
      <p:ext uri="{BB962C8B-B14F-4D97-AF65-F5344CB8AC3E}">
        <p14:creationId xmlns:p14="http://schemas.microsoft.com/office/powerpoint/2010/main" val="406228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74320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What is RMMM?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Calibri"/>
              </a:defRPr>
            </a:pPr>
            <a:r>
              <a:t>Risk Mitigation, Monitoring, and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329184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Calibri"/>
              </a:defRPr>
            </a:pPr>
            <a:r>
              <a:t>Risk Mitigation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Calibri"/>
              </a:defRPr>
            </a:pPr>
            <a:r>
              <a:t>Proactive strategies to reduce</a:t>
            </a:r>
            <a:br/>
            <a:r>
              <a:t>the probability or impact of</a:t>
            </a:r>
            <a:br/>
            <a:r>
              <a:t>identified risks before they occur.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Calibri"/>
              </a:defRPr>
            </a:pPr>
            <a:r>
              <a:t>Example: Implementing automated</a:t>
            </a:r>
            <a:br/>
            <a:r>
              <a:t>expiry checks to prevent delivery</a:t>
            </a:r>
            <a:br/>
            <a:r>
              <a:t>of expired food.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011680"/>
            <a:ext cx="3383280" cy="4114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79" y="2057400"/>
            <a:ext cx="3291840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39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565C0"/>
                </a:solidFill>
                <a:latin typeface="Calibri"/>
              </a:defRPr>
            </a:pPr>
            <a:r>
              <a:t>Risk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30175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Calibri"/>
              </a:defRPr>
            </a:pPr>
            <a:r>
              <a:t>Continuous tracking of risk</a:t>
            </a:r>
            <a:br/>
            <a:r>
              <a:t>indicators and triggers throughout</a:t>
            </a:r>
            <a:br/>
            <a:r>
              <a:t>the project lifecycle.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4480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Calibri"/>
              </a:defRPr>
            </a:pPr>
            <a:r>
              <a:t>Example: Monitoring database</a:t>
            </a:r>
            <a:br/>
            <a:r>
              <a:t>response times and server</a:t>
            </a:r>
            <a:br/>
            <a:r>
              <a:t>CPU utilization.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11680"/>
            <a:ext cx="3383280" cy="4114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2057400"/>
            <a:ext cx="3291840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C00"/>
                </a:solidFill>
                <a:latin typeface="Calibri"/>
              </a:defRPr>
            </a:pPr>
            <a:r>
              <a:t>Risk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175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24242"/>
                </a:solidFill>
                <a:latin typeface="Calibri"/>
              </a:defRPr>
            </a:pPr>
            <a:r>
              <a:t>Contingency plans and corrective</a:t>
            </a:r>
            <a:br/>
            <a:r>
              <a:t>actions executed when a risk</a:t>
            </a:r>
            <a:br/>
            <a:r>
              <a:t>materializes.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4805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24242"/>
                </a:solidFill>
                <a:latin typeface="Calibri"/>
              </a:defRPr>
            </a:pPr>
            <a:r>
              <a:t>Example: Activating a standby</a:t>
            </a:r>
            <a:br/>
            <a:r>
              <a:t>database server during</a:t>
            </a:r>
            <a:br/>
            <a:r>
              <a:t>PostgreSQL outage.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743200" cy="54864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Risk Category Reference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Short Form</a:t>
                      </a:r>
                    </a:p>
                  </a:txBody>
                  <a:tcPr anchor="ctr"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 Category</a:t>
                      </a:r>
                    </a:p>
                  </a:txBody>
                  <a:tcPr anchor="ctr"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Explanation</a:t>
                      </a:r>
                    </a:p>
                  </a:txBody>
                  <a:tcPr anchor="ctr">
                    <a:solidFill>
                      <a:srgbClr val="008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Product 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Risks related to overall size, scale, and complexity of the software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Business Impact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Risks from business constraints — market conditions, competition, management decisions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Customer Characteristics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Risks related to customer behavior, expectations, and communication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PD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Process Definition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Risks due to unclear, undefined, or poorly followed development processes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Development Environment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Risks associated with availability, reliability, and quality of dev tools &amp; infrastructure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TE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Technology to be Built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Risks due to complexity, novelty, or uncertainty of the technology used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Staff Size &amp; Experience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Risks related to skills, experience, and availability of the development team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743200" cy="5486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Probability &amp; Impact Severity Scales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A1B9A"/>
                </a:solidFill>
                <a:latin typeface="Calibri"/>
              </a:defRPr>
            </a:pPr>
            <a:r>
              <a:t>Probability Scale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47548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80% – 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Very 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60% – 79%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40% – 59%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20% – 39%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&lt; 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Very 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A1B9A"/>
                </a:solidFill>
                <a:latin typeface="Calibri"/>
              </a:defRPr>
            </a:pPr>
            <a:r>
              <a:t>Impact Severity Scale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2011680"/>
          <a:ext cx="53035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Value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Catastrophic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Mission failure or costs &gt; $500K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Significant degradation, costs $100K–$500K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Marginal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Secondary mission impact, costs $1K–$100K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Negligible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Inconvenience, minor cost &lt; $1K</a:t>
                      </a:r>
                    </a:p>
                  </a:txBody>
                  <a:tcPr anchor="ctr"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7432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Step 1: Risk Table (Unsorted)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Calibri"/>
              </a:defRPr>
            </a:pPr>
            <a:r>
              <a:t>Identification and classification of project risks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828800"/>
          <a:ext cx="116128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Risks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Prob.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RMMM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Database server downtime or PostgreSQL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connection failures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Connection pooling, failover,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backups, health 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JWT token security breach or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unauthorized access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Token rotation, refresh tokens,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rate limiting, anomaly detection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Sudden increase in users causing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performance degradation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Horizontal scaling, load balancing,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caching, load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Food expiry mismanagement leading to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delivery of expired food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Expiry alerts, auto-cancellation,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countdown timers, validation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Team members lacking experience in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React, TypeScript, Prisma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Knowledge sharing, documentation,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cross-training, backup hiring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Scope creep from adding features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(Maps, payments, chat)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Change control, MoSCoW method,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stakeholder sign-off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CORS policy &amp; API integration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failures (frontend ↔ backend)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CORS config, API tests, Swagger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documentation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Users failing to adopt platform or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providing unclear requirements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CU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User testing, feedback collection,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pilot programs, training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74320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Step 2: Risk Table (Sorted by Probability — Descending)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Calibri"/>
              </a:defRPr>
            </a:pPr>
            <a:r>
              <a:t>Risks ordered from highest to lowest probability of occurrence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828800"/>
          <a:ext cx="116128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Risks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Prob.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RMMM</a:t>
                      </a:r>
                    </a:p>
                  </a:txBody>
                  <a:tcPr anchor="ctr"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Food expiry mismanagement leading to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delivery of expired food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Expiry alerts, auto-cancellation,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countdown timers,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Database server downtime or PostgreSQL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connection failures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TE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Connection pooling, failover,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backups, health monitoring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CORS policy &amp; API integration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failures (frontend ↔ backend)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CORS config, API tests, Swagger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documentation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JWT token security breach or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unauthorized access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PS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Token rotation, refresh tokens,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rate limiting, anomaly detection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Sudden increase in users causing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performance degradation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Horizontal scaling, load balancing,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caching, load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Scope creep from adding features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(Maps, payments, chat)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BU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Change control, MoSCoW method,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stakeholder sign-off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Team members lacking experience in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React, TypeScript, Prisma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Knowledge sharing, documentation,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cross-training, backup hiring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Users failing to adopt platform or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providing unclear requirements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CU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User testing, feedback collection,</a:t>
                      </a:r>
                    </a:p>
                    <a:p>
                      <a:pPr>
                        <a:defRPr sz="1000">
                          <a:solidFill>
                            <a:srgbClr val="424242"/>
                          </a:solidFill>
                          <a:latin typeface="Calibri"/>
                        </a:defRPr>
                      </a:pPr>
                      <a:r>
                        <a:t>pilot programs, training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Step 3: Risk Information Sheet (RIS)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Risk ID 4: Food Expiry Time Mismanagement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Risk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03/02/2026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1 (Catastrophic)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2402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Food expiry time mismanagement leading to delivery of expired or unsafe food to recipients. Inaccurate expiry timestamps or delayed pickups could result in food safety violations and health hazards.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Refinement &amp;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Donors may enter incorrect or overly optimistic expiry times when listing food donations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Delays in donation workflow (claim → pickup → delivery) may exceed the food's actual shelf life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Lack of automated expiry enforcement means expired donations could remain visible and claimable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Mitigation &amp; Monitoring Strategies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Implement automated expiry countdown timers visible to all stakeholders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Add server-side cron jobs to auto-change donation status to EXPIRED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Send push/email notifications 1 hour before expiry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Add food category-wise default expiry limits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5. Prevent claiming donations within 30 minutes of expiry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Contingency Plan &amp;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Immediately cancel all pickups/claims for expired donations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Implement food safety incident reporting module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Establish partnerships with food safety authorities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Add donor rating system penalizing incorrect expiry entries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46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When donation's expiryTime is approaching or passed while still in AVAILABLE/CLAIMED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Status &amp; 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623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Status: Resolved ✓ (Mitigated on 15/02/2026)</a:t>
            </a:r>
            <a:br/>
            <a:r>
              <a:t>Assigned To: Scrum Master  |  Originator: Risk Management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Step 3: Risk Information Sheet (RIS)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Risk ID 1: Database Server Downtime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Risk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Calibri"/>
              </a:defRPr>
            </a:pPr>
            <a:r>
              <a:t>07/02/2026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Calibri"/>
              </a:defRPr>
            </a:pPr>
            <a:r>
              <a:t>2 (Critical)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2402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PostgreSQL connection failures disrupting platform operations. The application relies on a single PostgreSQL instance via Prisma ORM — any outage renders the platform non-functional.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Refinement &amp;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Single PostgreSQL database without replication creates a single point of failure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Prisma connection pool exhaustion under high load could cause timeouts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Unplanned maintenance, disk space exhaustion, or corrupted migrations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Mitigation &amp; Monitoring Strategies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Set up PostgreSQL replication with standby server for automatic failover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Configure Prisma connection pooling parameters appropriately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Implement automated daily database backups with PITR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Set up health monitoring with alerts for CPU, memory, disk, connections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5. Test migrations in staging environment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Contingency Plan &amp;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Activate standby database and redirect connections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Restore from latest backup if data corruption occurs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Implement read-only mode during recovery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Notify all users about temporary service disruption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46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When DB response time &gt; 5 seconds or connection failures exceed 3 consecutive attempts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Status &amp; 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623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Status: Resolved ✓ (Mitigated on 21/02/2026)</a:t>
            </a:r>
            <a:br/>
            <a:r>
              <a:t>Assigned To: Scrum Master  |  Originator: Risk Management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Step 3: Risk Information Sheet (RIS)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Risk ID 7: CORS &amp; API Integration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Risk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Calibri"/>
              </a:defRPr>
            </a:pPr>
            <a:r>
              <a:t>12/02/2026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Calibri"/>
              </a:defRPr>
            </a:pPr>
            <a:r>
              <a:t>2 (Critical)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2402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CORS policy violations and API integration failures between React frontend (localhost:5173) and Express backend (localhost:3001), causing broken user interactions and data flow disruptions.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Refinement &amp;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Misconfigured CORS headers may block legitimate frontend API requests during deployment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API contract mismatches between React Query hooks and Express controllers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JWT token transmission issues causing authentication failures across protected routes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Mitigation &amp; Monitoring Strategies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Maintain centralized CORS configuration with environment-specific origins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Implement automated API integration tests using Playwright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Use Swagger/OpenAPI for API contract documentation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Add comprehensive error interceptors in frontend API layer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5. Implement API versioning to prevent breaking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Contingency Plan &amp;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Revert to last known working CORS configuration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Enable detailed backend logging for debugging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Deploy temporary API proxy to bypass CORS issues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Conduct post-incident review to update procedures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46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When frontend console reports CORS errors or API responses show 4xx/5xx on critical endpoints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Status &amp; 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623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Status: Resolved ✓ (Mitigated on 27/02/2026)</a:t>
            </a:r>
            <a:br/>
            <a:r>
              <a:t>Assigned To: Scrum Master  |  Originator: Risk Management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Step 3: Risk Information Sheet (RIS)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Risk ID 2: JWT Security Breach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Risk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17/02/2026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55%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1 (Catastrophic)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2402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JWT token security breach or unauthorized access to user accounts. The platform handles sensitive user data and food donation workflows — a breach could compromise trust and safety.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Refinement &amp;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JWT token with 7-day expiration increases vulnerability window if compromised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Insufficient input validation could allow attackers to bypass authentication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Lack of rate limiting enables brute-force attacks (weak default passwords: admin123)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Mitigation &amp; Monitoring Strategies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Reduce JWT expiry to 1 hour + implement refresh token mechanism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Migrate from localStorage to httpOnly secure cookies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Implement rate limiting (5 login attempts/min/IP)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Enforce strong password policies (8+ chars, mixed case, special chars)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5. Add API request logging and anomaly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Contingency Plan &amp;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Immediately invalidate all tokens by rotating JWT_SECRET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Force password reset for all affected accounts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Conduct security audit to identify breach vector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Notify all users about the security incident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46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Suspicious login activity, unusual API patterns, or user reports of unauthorized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Status &amp; 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623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Status: Resolved ✓ (Mitigated on 05/03/2026)</a:t>
            </a:r>
            <a:br/>
            <a:r>
              <a:t>Assigned To: Scrum Master  |  Originator: Risk Management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Step 3: Risk Information Sheet (RIS)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Risk ID 3: Performance Degradation Under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Risk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Calibri"/>
              </a:defRPr>
            </a:pPr>
            <a:r>
              <a:t>22/02/2026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C00"/>
                </a:solidFill>
                <a:latin typeface="Calibri"/>
              </a:defRPr>
            </a:pPr>
            <a:r>
              <a:t>2 (Critical)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2402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Sudden increase in users and donation traffic causing severe performance degradation. Concurrent users and real-time donation activities could overwhelm the single-server architecture.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Refinement &amp;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Single Node.js Express server without clustering creates a bottleneck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React Query caching may become inefficient with rapidly changing donation data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Large admin dashboard datasets without pagination could cause memory issues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Mitigation &amp; Monitoring Strategies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Implement Node.js clustering to utilize multiple CPU cores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Add Redis-based caching for frequently accessed data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Optimize Prisma queries with indexing and cursor-based pagination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Tune React Query stale time and cache time parameters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5. Set up APM tools to track response times and throughput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Contingency Plan &amp;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Scale horizontally with additional server instances + load balancer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Implement request throttling during traffic spikes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Optimize queries and add indexes from slow query logs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Restrict non-essential features to preserve core functionality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46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When API response time &gt; 2 seconds or server CPU &gt; 80% for sustained periods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Status &amp; 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623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Status: Resolved ✓ (Mitigated on 10/03/2026)</a:t>
            </a:r>
            <a:br/>
            <a:r>
              <a:t>Assigned To: Scrum Master  |  Originator: Risk Management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Step 3: Risk Information Sheet (RIS)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Risk ID 6: Scope Creep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Risk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26/02/2026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3 (Marginal)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2402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Scope creep due to continuous addition of features — real-time notifications (WebSocket), Google Maps, mobile apps (React Native), payment integration, and chat — pushed into current sprint.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Refinement &amp;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Stakeholders may demand Google Maps integration for real-time volunteer tracking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Payment integration introduces regulatory, security, and third-party risks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WebSocket notifications require significant changes to REST-only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Mitigation &amp; Monitoring Strategies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Define and document clear project scope with stakeholder sign-off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Implement formal change control — all requests need impact analysis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Prioritize features using MoSCoW method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Track scope changes and report deviations in sprint retrospectives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5. Maintain separate 'future enhancements' backlog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Contingency Plan &amp;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Escalate changes to sponsor with revised timeline/resources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Negotiate deferral of non-critical features to next release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Allocate a buffer sprint for approved scope changes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Reallocate team from lower-priority tasks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46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When &gt; 2 unplanned features added to sprint or velocity drops below 70% of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Status &amp; 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623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Status: Resolved ✓ (Mitigated on 17/03/2026)</a:t>
            </a:r>
            <a:br/>
            <a:r>
              <a:t>Assigned To: Scrum Master  |  Originator: Risk Management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Step 3: Risk Information Sheet (RIS)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Risk ID 5: Staff Skill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Risk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03/03/2026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3 (Marginal)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2402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Team members leaving or lacking experience in React 18, TypeScript, Prisma ORM, PostgreSQL, TanStack Query, and Tailwind CSS/shadcn — resulting in slowdowns and quality issues.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Refinement &amp;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Lack of Prisma ORM experience leading to schema design issues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TypeScript strict mode may slow developers unfamiliar with strong typing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Sudden departure of member owning critical modules creates knowledge silos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Mitigation &amp; Monitoring Strategies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Weekly knowledge-sharing sessions on Prisma, React Query, TypeScript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Maintain comprehensive inline documentation and ADRs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Implement pair programming and mandatory code reviews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Create onboarding documentation with project-specific setup guides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5. Track velocity and individual task completion rates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Contingency Plan &amp;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Engage external consultants with required expertise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Reassign tasks to redistribute workload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Use official docs (shadcn/ui, TanStack Query) for self-learning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Implement 2-week handover period policy for departing 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46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When a member resigns or task completion rate drops below 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Status &amp; 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623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Status: Resolved ✓ (Mitigated on 22/03/2026)</a:t>
            </a:r>
            <a:br/>
            <a:r>
              <a:t>Assigned To: Scrum Master  |  Originator: Risk Management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Step 3: Risk Information Sheet (RIS)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Risk ID 8: Low User Adoption / Unclear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Risk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08/03/2026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188720"/>
            <a:ext cx="1828800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207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DBDBD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3 (Marginal)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2402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Donors, NGOs, or volunteers failing to adopt the platform or providing unclear, conflicting requirements — resulting in low engagement and feature-reality gaps.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Refinement &amp;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Donors may resist due to overhead of listing food with expiry and pickup details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NGOs may request customizations conflicting with the standardized workflow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• Volunteers may find pickup/delivery workflow cumbersome without 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Mitigation &amp; Monitoring Strategies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Conduct user interviews and usability testing before major releases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Implement role-specific onboarding with guided tutorials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Set up in-app feedback mechanism (surveys, contact forms)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Track engagement metrics (DAU, completion rates, time-to-claim)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5. Run pilot program with 5–10 partner organizations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Contingency Plan &amp;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1. Simplify donation listing/claiming process based on feedback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2. Provide dedicated support and training for partner organizations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3. Redesign UI based on usability test findings</a:t>
            </a:r>
          </a:p>
          <a:p>
            <a:pPr>
              <a:spcAft>
                <a:spcPts val="200"/>
              </a:spcAft>
              <a:defRPr sz="1000">
                <a:solidFill>
                  <a:srgbClr val="424242"/>
                </a:solidFill>
                <a:latin typeface="Calibri"/>
              </a:defRPr>
            </a:pPr>
            <a:r>
              <a:t>4. Offer incentives (badges, impact stats) to boost engagement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46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When adoption &lt; 30% of target in first month or &gt; 50% of feedback reports usability issues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Status &amp; 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623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24242"/>
                </a:solidFill>
                <a:latin typeface="Calibri"/>
              </a:defRPr>
            </a:pPr>
            <a:r>
              <a:t>Status: Resolved ✓ (Mitigated on 28/03/2026)</a:t>
            </a:r>
            <a:br/>
            <a:r>
              <a:t>Assigned To: Scrum Master  |  Originator: Risk Management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7432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Suitable Maintenance Process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24242"/>
                </a:solidFill>
                <a:latin typeface="Calibri"/>
              </a:defRPr>
            </a:pPr>
            <a:r>
              <a:t>Iterative Enhancement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 dirty="0"/>
              <a:t>1. </a:t>
            </a:r>
            <a:r>
              <a:t>Chosen Model: Iterative Enhancement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  <a:latin typeface="Calibri"/>
              </a:defRPr>
            </a:pPr>
            <a:r>
              <a:t>The Iterative Enhancement Model treats each maintenance cycle as a mini-development iteration — analyzing existing code, designing modifications, implementing and testing changes, and then delivering the enhanced system. This aligns perfectly with FoodBridge's agile, sprint-based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2. Justification: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FoodBridge</a:t>
            </a:r>
            <a:r>
              <a:rPr dirty="0"/>
              <a:t> has a backlog of planned enhancements (WebSocket notifications, Google Maps, payment integration, React Native apps) — the model supports incremental additions</a:t>
            </a:r>
          </a:p>
          <a:p>
            <a:pPr>
              <a:spcAft>
                <a:spcPts val="8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rPr dirty="0"/>
              <a:t>• The React + TypeScript component-based architecture and Prisma ORM schema naturally support modular, iterative modifications without full system redesign</a:t>
            </a:r>
          </a:p>
          <a:p>
            <a:pPr>
              <a:spcAft>
                <a:spcPts val="8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rPr dirty="0"/>
              <a:t>• Sprint-based Agile process already used by the team maps directly to the iteration cycles of this model (analyze → design → implement → test → deliver)</a:t>
            </a:r>
          </a:p>
          <a:p>
            <a:pPr>
              <a:spcAft>
                <a:spcPts val="8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rPr dirty="0"/>
              <a:t>• Risk mitigation strategies (e.g., adding expiry automation, scaling database, fixing CORS) can be treated as individual enhancement iterations</a:t>
            </a:r>
          </a:p>
          <a:p>
            <a:pPr>
              <a:spcAft>
                <a:spcPts val="800"/>
              </a:spcAft>
              <a:defRPr sz="1200">
                <a:solidFill>
                  <a:srgbClr val="424242"/>
                </a:solidFill>
                <a:latin typeface="Calibri"/>
              </a:defRPr>
            </a:pPr>
            <a:r>
              <a:rPr dirty="0"/>
              <a:t>• Each iteration builds on the previous stable release, reducing the risk of introducing regressions — critical for a food safety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64C62-6A88-C8F2-9929-3EA7C6F40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184ABE-8437-5ED5-4C9F-832AF5B7A349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5A5C15-4971-CC79-B093-D466DA2DEA11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108769-6577-C31C-5C84-3A461C55C969}"/>
              </a:ext>
            </a:extLst>
          </p:cNvPr>
          <p:cNvSpPr/>
          <p:nvPr/>
        </p:nvSpPr>
        <p:spPr>
          <a:xfrm>
            <a:off x="731520" y="1234440"/>
            <a:ext cx="27432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4F923-5732-55A5-0BAA-3B22C2C7B985}"/>
              </a:ext>
            </a:extLst>
          </p:cNvPr>
          <p:cNvSpPr txBox="1"/>
          <p:nvPr/>
        </p:nvSpPr>
        <p:spPr>
          <a:xfrm>
            <a:off x="73152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rPr dirty="0"/>
              <a:t>Suitable Maintenance Process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A85F34-74E6-F364-4BBC-528E2ACE7848}"/>
              </a:ext>
            </a:extLst>
          </p:cNvPr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16/20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03A59B-C7AE-9001-ACC0-D7F152765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19" y="1800334"/>
            <a:ext cx="10058400" cy="423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03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B1EF6-5EE5-2714-301F-A36A57B37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A49727-0A2A-5E19-D422-41212406E0A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24EBC-2F7B-FDF6-3856-0985D927B6A7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4ACAEC-CF43-CBD9-5840-A0663B15050D}"/>
              </a:ext>
            </a:extLst>
          </p:cNvPr>
          <p:cNvSpPr/>
          <p:nvPr/>
        </p:nvSpPr>
        <p:spPr>
          <a:xfrm>
            <a:off x="731520" y="1234440"/>
            <a:ext cx="274320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A8E02-05D0-4A6B-5DA2-B8DFECB98287}"/>
              </a:ext>
            </a:extLst>
          </p:cNvPr>
          <p:cNvSpPr txBox="1"/>
          <p:nvPr/>
        </p:nvSpPr>
        <p:spPr>
          <a:xfrm>
            <a:off x="73152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Suitable Maintenance Process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018581-E4B6-7201-A48F-F0EF8D8AA9A7}"/>
              </a:ext>
            </a:extLst>
          </p:cNvPr>
          <p:cNvSpPr txBox="1"/>
          <p:nvPr/>
        </p:nvSpPr>
        <p:spPr>
          <a:xfrm>
            <a:off x="731520" y="1417320"/>
            <a:ext cx="100584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600" b="0">
                <a:solidFill>
                  <a:srgbClr val="424242"/>
                </a:solidFill>
                <a:latin typeface="Calibri"/>
              </a:defRPr>
            </a:pPr>
            <a:r>
              <a:rPr lang="en-IN" dirty="0" err="1"/>
              <a:t>FoodBridge</a:t>
            </a:r>
            <a:r>
              <a:rPr lang="en-IN" dirty="0"/>
              <a:t> utilizes the Iterative Enhancement Model.  </a:t>
            </a:r>
          </a:p>
          <a:p>
            <a:pPr algn="just">
              <a:defRPr sz="1600" b="0">
                <a:solidFill>
                  <a:srgbClr val="424242"/>
                </a:solidFill>
                <a:latin typeface="Calibri"/>
              </a:defRPr>
            </a:pPr>
            <a:r>
              <a:rPr lang="en-IN" dirty="0"/>
              <a:t>This model treats each maintenance cycle as a mini-development iteration, which involves </a:t>
            </a:r>
            <a:r>
              <a:rPr lang="en-IN" dirty="0" err="1"/>
              <a:t>analyzing</a:t>
            </a:r>
            <a:r>
              <a:rPr lang="en-IN" dirty="0"/>
              <a:t> existing code, designing modifications, implementing and testing changes, and then delivering the enhanced system.  </a:t>
            </a:r>
          </a:p>
          <a:p>
            <a:pPr algn="just">
              <a:defRPr sz="1600" b="0">
                <a:solidFill>
                  <a:srgbClr val="424242"/>
                </a:solidFill>
                <a:latin typeface="Calibri"/>
              </a:defRPr>
            </a:pPr>
            <a:r>
              <a:rPr lang="en-IN" dirty="0"/>
              <a:t>Why this is the right model for </a:t>
            </a:r>
            <a:r>
              <a:rPr lang="en-IN" dirty="0" err="1"/>
              <a:t>FoodBridge</a:t>
            </a:r>
            <a:r>
              <a:rPr lang="en-IN" dirty="0"/>
              <a:t>:</a:t>
            </a:r>
          </a:p>
          <a:p>
            <a:pPr algn="just">
              <a:defRPr sz="1600" b="0">
                <a:solidFill>
                  <a:srgbClr val="424242"/>
                </a:solidFill>
                <a:latin typeface="Calibri"/>
              </a:defRPr>
            </a:pPr>
            <a:endParaRPr lang="en-IN" dirty="0"/>
          </a:p>
          <a:p>
            <a:pPr algn="just">
              <a:defRPr sz="1600" b="0">
                <a:solidFill>
                  <a:srgbClr val="424242"/>
                </a:solidFill>
                <a:latin typeface="Calibri"/>
              </a:defRPr>
            </a:pPr>
            <a:r>
              <a:rPr lang="en-IN" dirty="0"/>
              <a:t>Agile Alignment: It aligns perfectly with </a:t>
            </a:r>
            <a:r>
              <a:rPr lang="en-IN" dirty="0" err="1"/>
              <a:t>FoodBridge's</a:t>
            </a:r>
            <a:r>
              <a:rPr lang="en-IN" dirty="0"/>
              <a:t> agile, sprint-based workflow.  </a:t>
            </a:r>
          </a:p>
          <a:p>
            <a:pPr algn="just">
              <a:defRPr sz="1600" b="0">
                <a:solidFill>
                  <a:srgbClr val="424242"/>
                </a:solidFill>
                <a:latin typeface="Calibri"/>
              </a:defRPr>
            </a:pPr>
            <a:r>
              <a:rPr lang="en-IN" dirty="0"/>
              <a:t>Incremental Growth: </a:t>
            </a:r>
            <a:r>
              <a:rPr lang="en-IN" dirty="0" err="1"/>
              <a:t>FoodBridge</a:t>
            </a:r>
            <a:r>
              <a:rPr lang="en-IN" dirty="0"/>
              <a:t> has a backlog of planned enhancements (like WebSocket notifications, Google Maps), and this model inherently supports incremental additions.  </a:t>
            </a:r>
          </a:p>
          <a:p>
            <a:pPr algn="just">
              <a:defRPr sz="1600" b="0">
                <a:solidFill>
                  <a:srgbClr val="424242"/>
                </a:solidFill>
                <a:latin typeface="Calibri"/>
              </a:defRPr>
            </a:pPr>
            <a:endParaRPr lang="en-IN" dirty="0"/>
          </a:p>
          <a:p>
            <a:pPr algn="just">
              <a:defRPr sz="1600" b="0">
                <a:solidFill>
                  <a:srgbClr val="424242"/>
                </a:solidFill>
                <a:latin typeface="Calibri"/>
              </a:defRPr>
            </a:pPr>
            <a:r>
              <a:rPr lang="en-IN" dirty="0"/>
              <a:t>Architectural Fit: The React and TypeScript component-based architecture, alongside the Prisma ORM schema, naturally supports modular, iterative modifications without requiring a full system redesign.  </a:t>
            </a:r>
          </a:p>
          <a:p>
            <a:pPr algn="just">
              <a:defRPr sz="1600" b="0">
                <a:solidFill>
                  <a:srgbClr val="424242"/>
                </a:solidFill>
                <a:latin typeface="Calibri"/>
              </a:defRPr>
            </a:pPr>
            <a:r>
              <a:rPr lang="en-IN" dirty="0"/>
              <a:t>Safety &amp; Stability: Each iteration builds on the previous stable release, reducing the risk of introducing regressions, which is critical for a food safety platform.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886E46-7EB5-0EF7-F673-A52C5EF64D04}"/>
              </a:ext>
            </a:extLst>
          </p:cNvPr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16/20</a:t>
            </a:r>
          </a:p>
        </p:txBody>
      </p:sp>
    </p:spTree>
    <p:extLst>
      <p:ext uri="{BB962C8B-B14F-4D97-AF65-F5344CB8AC3E}">
        <p14:creationId xmlns:p14="http://schemas.microsoft.com/office/powerpoint/2010/main" val="1666116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rPr dirty="0"/>
              <a:t>Iterative Enhancement Model — </a:t>
            </a:r>
            <a:r>
              <a:rPr dirty="0" err="1"/>
              <a:t>FoodBridge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2743200" cy="45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Calibri"/>
              </a:defRPr>
            </a:pPr>
            <a:r>
              <a:t>Progressive development metrics across 4 iterations (February – March 2026)</a:t>
            </a:r>
          </a:p>
        </p:txBody>
      </p:sp>
      <p:pic>
        <p:nvPicPr>
          <p:cNvPr id="7" name="Picture 6" descr="iterative_enhancemen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14464"/>
            <a:ext cx="8498275" cy="55520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DBDBD"/>
                </a:solidFill>
                <a:latin typeface="Calibri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3182</Words>
  <Application>Microsoft Macintosh PowerPoint</Application>
  <PresentationFormat>Widescreen</PresentationFormat>
  <Paragraphs>522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NISHANT DESHMUKH (RA2311030010161)</cp:lastModifiedBy>
  <cp:revision>6</cp:revision>
  <dcterms:created xsi:type="dcterms:W3CDTF">2013-01-27T09:14:16Z</dcterms:created>
  <dcterms:modified xsi:type="dcterms:W3CDTF">2026-04-15T08:45:41Z</dcterms:modified>
  <cp:category/>
</cp:coreProperties>
</file>